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208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600" b="1" dirty="0">
                <a:solidFill>
                  <a:srgbClr val="0C256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Asset Management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" y="676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i="1" dirty="0">
                <a:solidFill>
                  <a:srgbClr val="266A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Centralized Asset Control with LLM-Driven Automation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" y="941832"/>
            <a:ext cx="822960" cy="18288"/>
          </a:xfrm>
          <a:prstGeom prst="rect">
            <a:avLst/>
          </a:prstGeom>
          <a:solidFill>
            <a:srgbClr val="0B9FAB"/>
          </a:solidFill>
          <a:ln w="12700">
            <a:solidFill>
              <a:srgbClr val="0B9F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FFF8F0"/>
          </a:solidFill>
          <a:ln w="12700">
            <a:solidFill>
              <a:srgbClr val="FDDCB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155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2412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email-based MRO purchasing causes slow processing, duplicate purchases, and limited asset visibility.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28600" y="1700784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EEF6FB"/>
          </a:solidFill>
          <a:ln w="12700">
            <a:solidFill>
              <a:srgbClr val="BFD9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8105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1719072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where LLM automatically extracts invoice data and triggers workflows for full asset lifecycle tracking.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" y="2450592"/>
            <a:ext cx="237744" cy="237744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8600" y="2450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12064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27066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9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item, serial no., price, consignee, and key invoice fields.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723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" y="30358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9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data to Import, R&amp;D, Support, and Admin teams.</a:t>
            </a:r>
            <a:endParaRPr lang="en-US" sz="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401568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2920" y="33649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9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Tracking: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assets by department, type, cost, and lifecycle.</a:t>
            </a:r>
            <a:endParaRPr lang="en-US" sz="7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730752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920" y="36941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9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&amp; Borrowing: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cross-department reuse to avoid unnecessary purchases.</a:t>
            </a:r>
            <a:endParaRPr lang="en-US" sz="750" dirty="0"/>
          </a:p>
        </p:txBody>
      </p:sp>
      <p:sp>
        <p:nvSpPr>
          <p:cNvPr id="24" name="Shape 16"/>
          <p:cNvSpPr/>
          <p:nvPr/>
        </p:nvSpPr>
        <p:spPr>
          <a:xfrm>
            <a:off x="2651760" y="2450592"/>
            <a:ext cx="237744" cy="237744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651760" y="2450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2935224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274320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926080" y="27066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workload and human errors.</a:t>
            </a:r>
            <a:endParaRPr lang="en-US" sz="7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07238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926080" y="30358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request-to-registration cycle time.</a:t>
            </a:r>
            <a:endParaRPr lang="en-US" sz="7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3401568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926080" y="33649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asset reuse and budget control across departments.</a:t>
            </a:r>
            <a:endParaRPr lang="en-US" sz="7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3730752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2926080" y="36941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managers clear visibility into spending and allocation.</a:t>
            </a:r>
            <a:endParaRPr lang="en-US" sz="750" dirty="0"/>
          </a:p>
        </p:txBody>
      </p:sp>
      <p:sp>
        <p:nvSpPr>
          <p:cNvPr id="35" name="Shape 23"/>
          <p:cNvSpPr/>
          <p:nvPr/>
        </p:nvSpPr>
        <p:spPr>
          <a:xfrm>
            <a:off x="5257800" y="164592"/>
            <a:ext cx="3657600" cy="2651760"/>
          </a:xfrm>
          <a:prstGeom prst="rect">
            <a:avLst/>
          </a:prstGeom>
          <a:solidFill>
            <a:srgbClr val="FBFDFF"/>
          </a:solidFill>
          <a:ln w="15875">
            <a:solidFill>
              <a:srgbClr val="E2EAF3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5349240" y="1097280"/>
            <a:ext cx="3474720" cy="8229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7F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819ABE"/>
                </a:solidFill>
                <a:latin typeface="Arial"/>
              </a:rPr>
              <a:t>Dashboard Placeholder</a:t>
            </a:r>
            <a:endParaRPr lang="en-US" sz="900" dirty="0"/>
          </a:p>
          <a:p>
            <a:pPr algn="ctr"/>
            <a:r>
              <a:rPr sz="900" i="1">
                <a:solidFill>
                  <a:srgbClr val="9DB1C8"/>
                </a:solidFill>
                <a:latin typeface="Arial"/>
              </a:rPr>
              <a:t>Replace with actual project screenshot</a:t>
            </a:r>
          </a:p>
        </p:txBody>
      </p:sp>
      <p:sp>
        <p:nvSpPr>
          <p:cNvPr id="37" name="Shape 25"/>
          <p:cNvSpPr/>
          <p:nvPr/>
        </p:nvSpPr>
        <p:spPr>
          <a:xfrm>
            <a:off x="5257800" y="164592"/>
            <a:ext cx="3657600" cy="320040"/>
          </a:xfrm>
          <a:prstGeom prst="rect">
            <a:avLst/>
          </a:prstGeom>
          <a:solidFill>
            <a:srgbClr val="FBFDFF"/>
          </a:solidFill>
          <a:ln w="6350">
            <a:solidFill>
              <a:srgbClr val="FBFDFF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534924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Dashboard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5285232" y="51206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5285232" y="53949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6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4,782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5285232" y="77724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A9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550" dirty="0"/>
          </a:p>
        </p:txBody>
      </p:sp>
      <p:sp>
        <p:nvSpPr>
          <p:cNvPr id="42" name="Shape 30"/>
          <p:cNvSpPr/>
          <p:nvPr/>
        </p:nvSpPr>
        <p:spPr>
          <a:xfrm>
            <a:off x="6199632" y="51206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199632" y="53949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6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4,231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6199632" y="77724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A9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ACTIVE ASSETS</a:t>
            </a:r>
            <a:endParaRPr lang="en-US" sz="550" dirty="0"/>
          </a:p>
        </p:txBody>
      </p:sp>
      <p:sp>
        <p:nvSpPr>
          <p:cNvPr id="45" name="Shape 33"/>
          <p:cNvSpPr/>
          <p:nvPr/>
        </p:nvSpPr>
        <p:spPr>
          <a:xfrm>
            <a:off x="7114032" y="51206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7114032" y="53949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6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7114032" y="77724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680">
                <a:solidFill>
                  <a:srgbClr val="5B7A9A"/>
                </a:solidFill>
                <a:latin typeface="Arial"/>
              </a:rPr>
              <a:t>PENDING REQUESTS</a:t>
            </a:r>
            <a:endParaRPr lang="en-US" sz="550" dirty="0"/>
          </a:p>
        </p:txBody>
      </p:sp>
      <p:sp>
        <p:nvSpPr>
          <p:cNvPr id="48" name="Shape 36"/>
          <p:cNvSpPr/>
          <p:nvPr/>
        </p:nvSpPr>
        <p:spPr>
          <a:xfrm>
            <a:off x="8028432" y="51206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4"/>
            </a:solidFill>
            <a:prstDash val="solid"/>
          </a:ln>
        </p:spPr>
      </p:sp>
      <p:sp>
        <p:nvSpPr>
          <p:cNvPr id="85" name="Text 66"/>
          <p:cNvSpPr/>
          <p:nvPr/>
        </p:nvSpPr>
        <p:spPr>
          <a:xfrm>
            <a:off x="7351776" y="4480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Workflow Automation Enhancement</a:t>
            </a:r>
            <a:endParaRPr lang="en-US" sz="750" dirty="0"/>
          </a:p>
        </p:txBody>
      </p:sp>
      <p:sp>
        <p:nvSpPr>
          <p:cNvPr id="86" name="Text 67"/>
          <p:cNvSpPr/>
          <p:nvPr/>
        </p:nvSpPr>
        <p:spPr>
          <a:xfrm>
            <a:off x="274320" y="4937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Nguyen Van Diem</a:t>
            </a:r>
            <a:endParaRPr lang="en-US" sz="700" dirty="0"/>
          </a:p>
        </p:txBody>
      </p:sp>
      <p:sp>
        <p:nvSpPr>
          <p:cNvPr id="87" name="Oval 86"/>
          <p:cNvSpPr/>
          <p:nvPr/>
        </p:nvSpPr>
        <p:spPr>
          <a:xfrm>
            <a:off x="18288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8580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8872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69164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19456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69748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40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70332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20624" y="1828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8288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8580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8872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69164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19456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69748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20040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70332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20624" y="6858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8288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8580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872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69164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19456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69748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20040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0332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20624" y="118872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8288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8580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8872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69164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19456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69748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20040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0332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20624" y="169164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8288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580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872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164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19456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69748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20040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70332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20624" y="219456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8288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8580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8872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69164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19456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69748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0040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70332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20624" y="269748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8288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8580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8872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69164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19456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69748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20040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0332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0624" y="320040"/>
            <a:ext cx="12801" cy="12801"/>
          </a:xfrm>
          <a:prstGeom prst="ellipse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 rot="2700000">
            <a:off x="8394192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 rot="2700000">
            <a:off x="8421624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 rot="2700000">
            <a:off x="8449056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 rot="2700000">
            <a:off x="8476488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 rot="2700000">
            <a:off x="8503919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 rot="2700000">
            <a:off x="8531352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 rot="2700000">
            <a:off x="8558784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 rot="2700000">
            <a:off x="8586216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 rot="2700000">
            <a:off x="8613648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 rot="2700000">
            <a:off x="8641080" y="4736592"/>
            <a:ext cx="310896" cy="7315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8183879" y="265176"/>
            <a:ext cx="53035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5B7A9A"/>
                </a:solidFill>
                <a:latin typeface="Arial"/>
              </a:rPr>
              <a:t>This Quarter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604504" y="283464"/>
            <a:ext cx="73152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B7A9A"/>
                </a:solidFill>
                <a:latin typeface="Arial"/>
              </a:rPr>
              <a:t>▾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394960" y="1170432"/>
            <a:ext cx="201168" cy="621792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458968" y="125272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458968" y="142646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458968" y="1600200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5715000" y="1188720"/>
            <a:ext cx="13258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 rot="18795858">
            <a:off x="5870448" y="1572768"/>
            <a:ext cx="213468" cy="9144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 rot="1179229">
            <a:off x="6016752" y="1417320"/>
            <a:ext cx="135935" cy="9144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 rot="19500479">
            <a:off x="6144768" y="1463040"/>
            <a:ext cx="223233" cy="9144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 rot="1106097">
            <a:off x="6327648" y="1335024"/>
            <a:ext cx="173495" cy="9144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7114032" y="1188720"/>
            <a:ext cx="12801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96912" y="1335024"/>
            <a:ext cx="274320" cy="10972"/>
          </a:xfrm>
          <a:prstGeom prst="rect">
            <a:avLst/>
          </a:prstGeom>
          <a:solidFill>
            <a:srgbClr val="B1C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296912" y="1426464"/>
            <a:ext cx="201168" cy="10972"/>
          </a:xfrm>
          <a:prstGeom prst="rect">
            <a:avLst/>
          </a:prstGeom>
          <a:solidFill>
            <a:srgbClr val="B1C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296912" y="1517904"/>
            <a:ext cx="274320" cy="10972"/>
          </a:xfrm>
          <a:prstGeom prst="rect">
            <a:avLst/>
          </a:prstGeom>
          <a:solidFill>
            <a:srgbClr val="B1C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96912" y="1609344"/>
            <a:ext cx="201168" cy="10972"/>
          </a:xfrm>
          <a:prstGeom prst="rect">
            <a:avLst/>
          </a:prstGeom>
          <a:solidFill>
            <a:srgbClr val="B1C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5715000" y="1810512"/>
            <a:ext cx="82296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611112" y="1810512"/>
            <a:ext cx="82296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7507224" y="1810512"/>
            <a:ext cx="82296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5266944" y="2816352"/>
            <a:ext cx="3108960" cy="1307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394960" y="2889504"/>
            <a:ext cx="155448" cy="15544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445252" y="2930652"/>
            <a:ext cx="54864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14416" y="2889504"/>
            <a:ext cx="1600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66AFF"/>
                </a:solidFill>
                <a:latin typeface="Arial"/>
              </a:rPr>
              <a:t>MANAGEMENT FOCUS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468112" y="31181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A3D64"/>
                </a:solidFill>
                <a:latin typeface="Arial"/>
              </a:rPr>
              <a:t>Real-time dashboards help leaders monitor spending trends,
department usage, asset allocation, and overall resource
visibility across the organization.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468112" y="3685032"/>
            <a:ext cx="2743200" cy="384048"/>
          </a:xfrm>
          <a:prstGeom prst="roundRect">
            <a:avLst>
              <a:gd name="adj" fmla="val 3500"/>
            </a:avLst>
          </a:prstGeom>
          <a:solidFill>
            <a:srgbClr val="FCFD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373368" y="3739896"/>
            <a:ext cx="2743" cy="237744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287768" y="3739896"/>
            <a:ext cx="2743" cy="237744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9552" y="3767328"/>
            <a:ext cx="109728" cy="10972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5769864" y="3749039"/>
            <a:ext cx="164592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751576" y="3904487"/>
            <a:ext cx="384048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0" i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8816" y="3767328"/>
            <a:ext cx="109728" cy="109728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6812280" y="3749039"/>
            <a:ext cx="3840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848856" y="3904487"/>
            <a:ext cx="329184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0" b="0" i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pic>
        <p:nvPicPr>
          <p:cNvPr id="193" name="Picture 19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6368" y="3767328"/>
            <a:ext cx="109728" cy="109728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7717536" y="3758184"/>
            <a:ext cx="402336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1" i="0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772400" y="3904487"/>
            <a:ext cx="201168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0" i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37160" y="4425696"/>
            <a:ext cx="85222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01752" y="4562856"/>
            <a:ext cx="246888" cy="24688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616" y="4617720"/>
            <a:ext cx="137160" cy="137160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603504" y="4553712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0C2560"/>
                </a:solidFill>
                <a:latin typeface="Arial"/>
              </a:rPr>
              <a:t>STRATEGIC
ROADMAP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527048" y="4553712"/>
            <a:ext cx="2743" cy="31089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828800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901952" y="4668012"/>
            <a:ext cx="16459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2212848" y="4617720"/>
            <a:ext cx="1572768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4" name="Picture 20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0" y="4663440"/>
            <a:ext cx="73152" cy="73152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2395728" y="4649724"/>
            <a:ext cx="131673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2A3D64"/>
                </a:solidFill>
                <a:latin typeface="Arial"/>
              </a:rPr>
              <a:t>Integrated Asset Location Tracking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069080" y="4718304"/>
            <a:ext cx="219456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288536" y="4713732"/>
            <a:ext cx="16459" cy="16459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407408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80560" y="4668012"/>
            <a:ext cx="16459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791456" y="4617720"/>
            <a:ext cx="1737360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1" name="Picture 2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4663440"/>
            <a:ext cx="73152" cy="73152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4974336" y="4649724"/>
            <a:ext cx="148132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2A3D64"/>
                </a:solidFill>
                <a:latin typeface="Arial"/>
              </a:rPr>
              <a:t>Automated Import TV Set Workflows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428232" y="4718304"/>
            <a:ext cx="219456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647688" y="4713732"/>
            <a:ext cx="16459" cy="16459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766560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839712" y="4668012"/>
            <a:ext cx="16459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150608" y="4617720"/>
            <a:ext cx="1481328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3760" y="4663440"/>
            <a:ext cx="73152" cy="73152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7333488" y="4649724"/>
            <a:ext cx="12252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2A3D64"/>
                </a:solidFill>
                <a:latin typeface="Arial"/>
              </a:rPr>
              <a:t>UI &amp; Workflow Automation Enhancement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56032" y="4974336"/>
            <a:ext cx="12344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A7B6CC"/>
                </a:solidFill>
                <a:latin typeface="Arial"/>
              </a:rPr>
              <a:t>Presenter: Nguyen Van Diem</a:t>
            </a:r>
          </a:p>
        </p:txBody>
      </p:sp>
      <p:sp>
        <p:nvSpPr>
          <p:cNvPr id="221" name="Rectangle 220"/>
          <p:cNvSpPr/>
          <p:nvPr/>
        </p:nvSpPr>
        <p:spPr>
          <a:xfrm rot="2700000">
            <a:off x="8595360" y="4800600"/>
            <a:ext cx="128016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 rot="2700000">
            <a:off x="8613648" y="4800600"/>
            <a:ext cx="128016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 rot="2700000">
            <a:off x="8631936" y="4800600"/>
            <a:ext cx="128016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 rot="2700000">
            <a:off x="8650224" y="4800600"/>
            <a:ext cx="128016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 rot="2700000">
            <a:off x="8668512" y="4800600"/>
            <a:ext cx="128016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8028431" y="512064"/>
            <a:ext cx="8686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193024" y="548640"/>
            <a:ext cx="5303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2560"/>
                </a:solidFill>
                <a:latin typeface="Arial"/>
              </a:rPr>
              <a:t>$12.8M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211312" y="758952"/>
            <a:ext cx="484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30" b="0" i="0">
                <a:solidFill>
                  <a:srgbClr val="576889"/>
                </a:solidFill>
                <a:latin typeface="Arial"/>
              </a:rPr>
              <a:t>TOTAL
VALUE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230368" y="2788920"/>
            <a:ext cx="318211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5266944" y="2816352"/>
            <a:ext cx="3108960" cy="1307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394960" y="2889504"/>
            <a:ext cx="155448" cy="15544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445252" y="2930652"/>
            <a:ext cx="54864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614416" y="2889504"/>
            <a:ext cx="1965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266AFF"/>
                </a:solidFill>
                <a:latin typeface="Arial"/>
              </a:rPr>
              <a:t>MANAGEMENT FOCUS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468112" y="3127248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A3D64"/>
                </a:solidFill>
                <a:latin typeface="Arial"/>
              </a:rPr>
              <a:t>Real-time dashboards help leaders monitor spending trends,
department usage, asset allocation, and overall resource
visibility across the organization.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468112" y="3675887"/>
            <a:ext cx="2743200" cy="365760"/>
          </a:xfrm>
          <a:prstGeom prst="roundRect">
            <a:avLst>
              <a:gd name="adj" fmla="val 3500"/>
            </a:avLst>
          </a:prstGeom>
          <a:solidFill>
            <a:srgbClr val="FAFC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373368" y="3749039"/>
            <a:ext cx="2743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287768" y="3749039"/>
            <a:ext cx="2743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840" y="3776472"/>
            <a:ext cx="91440" cy="91440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5788152" y="3758184"/>
            <a:ext cx="16459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724144" y="3886200"/>
            <a:ext cx="420624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104" y="3776472"/>
            <a:ext cx="91440" cy="91440"/>
          </a:xfrm>
          <a:prstGeom prst="rect">
            <a:avLst/>
          </a:prstGeom>
        </p:spPr>
      </p:pic>
      <p:sp>
        <p:nvSpPr>
          <p:cNvPr id="242" name="TextBox 241"/>
          <p:cNvSpPr txBox="1"/>
          <p:nvPr/>
        </p:nvSpPr>
        <p:spPr>
          <a:xfrm>
            <a:off x="6793992" y="3758184"/>
            <a:ext cx="38404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821424" y="3886200"/>
            <a:ext cx="34747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6368" y="3776472"/>
            <a:ext cx="91440" cy="91440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7708392" y="3758184"/>
            <a:ext cx="42062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763256" y="3886200"/>
            <a:ext cx="219456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9728" y="4416552"/>
            <a:ext cx="8595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137160" y="4425696"/>
            <a:ext cx="85222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301752" y="4562856"/>
            <a:ext cx="246888" cy="24688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616" y="4617720"/>
            <a:ext cx="137160" cy="137160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603504" y="4553712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0C2560"/>
                </a:solidFill>
                <a:latin typeface="Arial"/>
              </a:rPr>
              <a:t>STRATEGIC
ROADMAP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527048" y="4553712"/>
            <a:ext cx="2743" cy="31089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92224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856231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2139696" y="4617720"/>
            <a:ext cx="1627632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6" name="Picture 25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2848" y="4663440"/>
            <a:ext cx="73152" cy="73152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2322576" y="4645152"/>
            <a:ext cx="13716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 i="0">
                <a:solidFill>
                  <a:srgbClr val="2A3D64"/>
                </a:solidFill>
                <a:latin typeface="Arial"/>
              </a:rPr>
              <a:t>Integrated Asset Location Tracking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3694176" y="4718304"/>
            <a:ext cx="219456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913632" y="4713732"/>
            <a:ext cx="16459" cy="16459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133087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197096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4480560" y="4617720"/>
            <a:ext cx="1737360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712" y="4663440"/>
            <a:ext cx="73152" cy="73152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4663440" y="4645152"/>
            <a:ext cx="148132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 i="0">
                <a:solidFill>
                  <a:srgbClr val="2A3D64"/>
                </a:solidFill>
                <a:latin typeface="Arial"/>
              </a:rPr>
              <a:t>Automated Import TV Set Workflows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153912" y="4718304"/>
            <a:ext cx="219456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373368" y="4713732"/>
            <a:ext cx="16459" cy="16459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922008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986016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7269480" y="4617720"/>
            <a:ext cx="1591056" cy="201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0" name="Picture 26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2631" y="4663440"/>
            <a:ext cx="73152" cy="73152"/>
          </a:xfrm>
          <a:prstGeom prst="rect">
            <a:avLst/>
          </a:prstGeom>
        </p:spPr>
      </p:pic>
      <p:sp>
        <p:nvSpPr>
          <p:cNvPr id="271" name="TextBox 270"/>
          <p:cNvSpPr txBox="1"/>
          <p:nvPr/>
        </p:nvSpPr>
        <p:spPr>
          <a:xfrm>
            <a:off x="7452360" y="4645152"/>
            <a:ext cx="1335024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 i="0">
                <a:solidFill>
                  <a:srgbClr val="2A3D64"/>
                </a:solidFill>
                <a:latin typeface="Arial"/>
              </a:rPr>
              <a:t>UI &amp; Workflow Automation Enhancement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28600" y="4956048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56032" y="4974336"/>
            <a:ext cx="12344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A7B6CC"/>
                </a:solidFill>
                <a:latin typeface="Arial"/>
              </a:rPr>
              <a:t>Presenter: Nguyen Van Diem</a:t>
            </a:r>
          </a:p>
        </p:txBody>
      </p:sp>
      <p:sp>
        <p:nvSpPr>
          <p:cNvPr id="274" name="Rectangle 273"/>
          <p:cNvSpPr/>
          <p:nvPr/>
        </p:nvSpPr>
        <p:spPr>
          <a:xfrm rot="2700000">
            <a:off x="8595360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 rot="2700000">
            <a:off x="8613648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 rot="2700000">
            <a:off x="8631936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 rot="2700000">
            <a:off x="8650224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230368" y="146304"/>
            <a:ext cx="3712463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5257800" y="164592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5504688" y="25603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C2560"/>
                </a:solidFill>
                <a:latin typeface="Arial"/>
              </a:rPr>
              <a:t>Asset Dashboard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8193024" y="256032"/>
            <a:ext cx="475488" cy="1645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275320" y="283464"/>
            <a:ext cx="27432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576889"/>
                </a:solidFill>
                <a:latin typeface="Arial"/>
              </a:rPr>
              <a:t>This Quarter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8558784" y="283464"/>
            <a:ext cx="54864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576889"/>
                </a:solidFill>
                <a:latin typeface="Arial"/>
              </a:rPr>
              <a:t>▾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5440680" y="502920"/>
            <a:ext cx="3246120" cy="2011680"/>
          </a:xfrm>
          <a:prstGeom prst="roundRect">
            <a:avLst>
              <a:gd name="adj" fmla="val 4000"/>
            </a:avLst>
          </a:prstGeom>
          <a:solidFill>
            <a:srgbClr val="F9FC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309360" y="132588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96A9C4"/>
                </a:solidFill>
                <a:latin typeface="Arial"/>
              </a:rPr>
              <a:t>PROJECT DASHBOARD
PLACEHOLDER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144768" y="1618488"/>
            <a:ext cx="190195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0" i="1">
                <a:solidFill>
                  <a:srgbClr val="96A9C4"/>
                </a:solidFill>
                <a:latin typeface="Arial"/>
              </a:rPr>
              <a:t>Replace this area with actual project screenshot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715000" y="731520"/>
            <a:ext cx="658368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6537960" y="731520"/>
            <a:ext cx="658368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7360920" y="731520"/>
            <a:ext cx="658368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5715000" y="1645920"/>
            <a:ext cx="82296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ounded Rectangle 290"/>
          <p:cNvSpPr/>
          <p:nvPr/>
        </p:nvSpPr>
        <p:spPr>
          <a:xfrm>
            <a:off x="6675120" y="1645920"/>
            <a:ext cx="82296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ounded Rectangle 291"/>
          <p:cNvSpPr/>
          <p:nvPr/>
        </p:nvSpPr>
        <p:spPr>
          <a:xfrm>
            <a:off x="7635240" y="1645920"/>
            <a:ext cx="82296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5715000" y="1207008"/>
            <a:ext cx="26060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ounded Rectangle 293"/>
          <p:cNvSpPr/>
          <p:nvPr/>
        </p:nvSpPr>
        <p:spPr>
          <a:xfrm>
            <a:off x="5532120" y="987552"/>
            <a:ext cx="237744" cy="502920"/>
          </a:xfrm>
          <a:prstGeom prst="roundRect">
            <a:avLst>
              <a:gd name="adj" fmla="val 3000"/>
            </a:avLst>
          </a:prstGeom>
          <a:solidFill>
            <a:srgbClr val="F3F8FD"/>
          </a:solidFill>
          <a:ln w="12700">
            <a:solidFill>
              <a:srgbClr val="E2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596128" y="1078992"/>
            <a:ext cx="41148" cy="411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6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596128" y="1188720"/>
            <a:ext cx="41148" cy="411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6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596128" y="1298448"/>
            <a:ext cx="41148" cy="411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6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 rot="18900000">
            <a:off x="5925312" y="1307592"/>
            <a:ext cx="164592" cy="7315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 rot="18900000">
            <a:off x="6071616" y="1256385"/>
            <a:ext cx="164592" cy="7315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 rot="18900000">
            <a:off x="6217920" y="1205179"/>
            <a:ext cx="164592" cy="7315"/>
          </a:xfrm>
          <a:prstGeom prst="rect">
            <a:avLst/>
          </a:prstGeom>
          <a:solidFill>
            <a:srgbClr val="26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296912" y="1042415"/>
            <a:ext cx="274320" cy="7315"/>
          </a:xfrm>
          <a:prstGeom prst="rect">
            <a:avLst/>
          </a:prstGeom>
          <a:solidFill>
            <a:srgbClr val="A7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296912" y="1133856"/>
            <a:ext cx="274320" cy="7315"/>
          </a:xfrm>
          <a:prstGeom prst="rect">
            <a:avLst/>
          </a:prstGeom>
          <a:solidFill>
            <a:srgbClr val="A7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296912" y="1225296"/>
            <a:ext cx="274320" cy="7315"/>
          </a:xfrm>
          <a:prstGeom prst="rect">
            <a:avLst/>
          </a:prstGeom>
          <a:solidFill>
            <a:srgbClr val="A7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5248656" y="2788920"/>
            <a:ext cx="3145536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5266944" y="2816352"/>
            <a:ext cx="3108960" cy="1307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5394960" y="2889504"/>
            <a:ext cx="155448" cy="15544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5445252" y="2930652"/>
            <a:ext cx="54864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614416" y="288950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6AFF"/>
                </a:solidFill>
                <a:latin typeface="Arial"/>
              </a:rPr>
              <a:t>MANAGEMENT FOCUS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477256" y="31272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A3D64"/>
                </a:solidFill>
                <a:latin typeface="Arial"/>
              </a:rPr>
              <a:t>Real-time dashboards help leaders monitor spending trends,
department usage, asset allocation, and overall resource
visibility across the organization.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5486400" y="3685032"/>
            <a:ext cx="2706624" cy="365760"/>
          </a:xfrm>
          <a:prstGeom prst="roundRect">
            <a:avLst>
              <a:gd name="adj" fmla="val 3000"/>
            </a:avLst>
          </a:prstGeom>
          <a:solidFill>
            <a:srgbClr val="FAFC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382512" y="3749039"/>
            <a:ext cx="2743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278624" y="3749039"/>
            <a:ext cx="2743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5596128" y="3758184"/>
            <a:ext cx="548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596128" y="3877056"/>
            <a:ext cx="548640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6556248" y="3758184"/>
            <a:ext cx="548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556248" y="3877056"/>
            <a:ext cx="548640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79792" y="3758184"/>
            <a:ext cx="548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479792" y="3877056"/>
            <a:ext cx="548640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9728" y="4416552"/>
            <a:ext cx="861364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137160" y="4425696"/>
            <a:ext cx="85222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01752" y="4562856"/>
            <a:ext cx="246888" cy="24688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384048" y="4617720"/>
            <a:ext cx="7315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⟲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03504" y="4553712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C2560"/>
                </a:solidFill>
                <a:latin typeface="Arial"/>
              </a:rPr>
              <a:t>STRATEGIC
ROADMAP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527048" y="4553712"/>
            <a:ext cx="2743" cy="31089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783080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847088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2103120" y="4617720"/>
            <a:ext cx="1700784" cy="201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2212848" y="4649724"/>
            <a:ext cx="151790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2A3D64"/>
                </a:solidFill>
                <a:latin typeface="Arial"/>
              </a:rPr>
              <a:t>Integrated Asset Location Tracking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3840480" y="4718304"/>
            <a:ext cx="201168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041648" y="4713732"/>
            <a:ext cx="14630" cy="14630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187952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4251960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4517136" y="4617720"/>
            <a:ext cx="1792224" cy="201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4626864" y="4649724"/>
            <a:ext cx="160934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2A3D64"/>
                </a:solidFill>
                <a:latin typeface="Arial"/>
              </a:rPr>
              <a:t>Automated Import TV Set Workflows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455664" y="4718304"/>
            <a:ext cx="201168" cy="7315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6656832" y="4713732"/>
            <a:ext cx="14630" cy="14630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6894576" y="4572000"/>
            <a:ext cx="310896" cy="310896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958584" y="4663440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7223760" y="4617720"/>
            <a:ext cx="1737360" cy="201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7333488" y="4649724"/>
            <a:ext cx="155448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2A3D64"/>
                </a:solidFill>
                <a:latin typeface="Arial"/>
              </a:rPr>
              <a:t>UI &amp; Workflow Automation Enhancement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219456" y="4956048"/>
            <a:ext cx="1371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256032" y="4974336"/>
            <a:ext cx="12344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A7B6CC"/>
                </a:solidFill>
                <a:latin typeface="Arial"/>
              </a:rPr>
              <a:t>Presenter: Nguyen Van Diem</a:t>
            </a:r>
          </a:p>
        </p:txBody>
      </p:sp>
      <p:sp>
        <p:nvSpPr>
          <p:cNvPr id="343" name="Rectangle 342"/>
          <p:cNvSpPr/>
          <p:nvPr/>
        </p:nvSpPr>
        <p:spPr>
          <a:xfrm rot="2700000">
            <a:off x="8595360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 rot="2700000">
            <a:off x="8613648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 rot="2700000">
            <a:off x="8631936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 rot="2700000">
            <a:off x="8650224" y="4800600"/>
            <a:ext cx="109728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212080" y="2761488"/>
            <a:ext cx="32461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5266944" y="2816352"/>
            <a:ext cx="3108960" cy="13075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5394960" y="2907792"/>
            <a:ext cx="155448" cy="15544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5445252" y="2942539"/>
            <a:ext cx="54864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5623560" y="2898648"/>
            <a:ext cx="192024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266AFF"/>
                </a:solidFill>
                <a:latin typeface="Arial"/>
              </a:rPr>
              <a:t>MANAGEMENT FOCUS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5468112" y="3118104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i="0">
                <a:solidFill>
                  <a:srgbClr val="2A3D64"/>
                </a:solidFill>
                <a:latin typeface="Arial"/>
              </a:rPr>
              <a:t>Real-time dashboards help leaders monitor spending trends,
department usage, asset allocation, and overall resource
visibility across the organization.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5486400" y="3694176"/>
            <a:ext cx="2706624" cy="347472"/>
          </a:xfrm>
          <a:prstGeom prst="roundRect">
            <a:avLst>
              <a:gd name="adj" fmla="val 3000"/>
            </a:avLst>
          </a:prstGeom>
          <a:solidFill>
            <a:srgbClr val="FBFD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6382512" y="3749039"/>
            <a:ext cx="2286" cy="210312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7278624" y="3749039"/>
            <a:ext cx="2286" cy="210312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6" name="Picture 3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6984" y="3776472"/>
            <a:ext cx="82296" cy="82296"/>
          </a:xfrm>
          <a:prstGeom prst="rect">
            <a:avLst/>
          </a:prstGeom>
        </p:spPr>
      </p:pic>
      <p:sp>
        <p:nvSpPr>
          <p:cNvPr id="357" name="TextBox 356"/>
          <p:cNvSpPr txBox="1"/>
          <p:nvPr/>
        </p:nvSpPr>
        <p:spPr>
          <a:xfrm>
            <a:off x="5760720" y="3749039"/>
            <a:ext cx="21945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5650992" y="3877056"/>
            <a:ext cx="43891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20" b="0" i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pic>
        <p:nvPicPr>
          <p:cNvPr id="359" name="Picture 35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8816" y="3776472"/>
            <a:ext cx="82296" cy="82296"/>
          </a:xfrm>
          <a:prstGeom prst="rect">
            <a:avLst/>
          </a:prstGeom>
        </p:spPr>
      </p:pic>
      <p:sp>
        <p:nvSpPr>
          <p:cNvPr id="360" name="TextBox 359"/>
          <p:cNvSpPr txBox="1"/>
          <p:nvPr/>
        </p:nvSpPr>
        <p:spPr>
          <a:xfrm>
            <a:off x="6711696" y="3749039"/>
            <a:ext cx="38404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638544" y="3877056"/>
            <a:ext cx="53035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20" b="0" i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pic>
        <p:nvPicPr>
          <p:cNvPr id="362" name="Picture 3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4072" y="3776472"/>
            <a:ext cx="82296" cy="82296"/>
          </a:xfrm>
          <a:prstGeom prst="rect">
            <a:avLst/>
          </a:prstGeom>
        </p:spPr>
      </p:pic>
      <p:sp>
        <p:nvSpPr>
          <p:cNvPr id="363" name="TextBox 362"/>
          <p:cNvSpPr txBox="1"/>
          <p:nvPr/>
        </p:nvSpPr>
        <p:spPr>
          <a:xfrm>
            <a:off x="7552944" y="3749039"/>
            <a:ext cx="4754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7543800" y="3877056"/>
            <a:ext cx="493776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20" b="0" i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5449824" y="3657600"/>
            <a:ext cx="27889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5486400" y="3694176"/>
            <a:ext cx="2706624" cy="329184"/>
          </a:xfrm>
          <a:prstGeom prst="roundRect">
            <a:avLst>
              <a:gd name="adj" fmla="val 2500"/>
            </a:avLst>
          </a:prstGeom>
          <a:solidFill>
            <a:srgbClr val="FBFD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6382512" y="3749039"/>
            <a:ext cx="2743" cy="192024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278624" y="3749039"/>
            <a:ext cx="2743" cy="192024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9" name="Picture 36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128" y="3776472"/>
            <a:ext cx="73152" cy="73152"/>
          </a:xfrm>
          <a:prstGeom prst="rect">
            <a:avLst/>
          </a:prstGeom>
        </p:spPr>
      </p:pic>
      <p:sp>
        <p:nvSpPr>
          <p:cNvPr id="370" name="TextBox 369"/>
          <p:cNvSpPr txBox="1"/>
          <p:nvPr/>
        </p:nvSpPr>
        <p:spPr>
          <a:xfrm>
            <a:off x="5742432" y="3744468"/>
            <a:ext cx="3657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596128" y="3858768"/>
            <a:ext cx="676656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pic>
        <p:nvPicPr>
          <p:cNvPr id="372" name="Picture 37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776472"/>
            <a:ext cx="73152" cy="73152"/>
          </a:xfrm>
          <a:prstGeom prst="rect">
            <a:avLst/>
          </a:prstGeom>
        </p:spPr>
      </p:pic>
      <p:sp>
        <p:nvSpPr>
          <p:cNvPr id="373" name="TextBox 372"/>
          <p:cNvSpPr txBox="1"/>
          <p:nvPr/>
        </p:nvSpPr>
        <p:spPr>
          <a:xfrm>
            <a:off x="6656832" y="3744468"/>
            <a:ext cx="512064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6473952" y="3858768"/>
            <a:ext cx="749808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pic>
        <p:nvPicPr>
          <p:cNvPr id="375" name="Picture 37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8352" y="3776472"/>
            <a:ext cx="73152" cy="73152"/>
          </a:xfrm>
          <a:prstGeom prst="rect">
            <a:avLst/>
          </a:prstGeom>
        </p:spPr>
      </p:pic>
      <p:sp>
        <p:nvSpPr>
          <p:cNvPr id="376" name="TextBox 375"/>
          <p:cNvSpPr txBox="1"/>
          <p:nvPr/>
        </p:nvSpPr>
        <p:spPr>
          <a:xfrm>
            <a:off x="7534656" y="3749039"/>
            <a:ext cx="53035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7388352" y="3858768"/>
            <a:ext cx="749808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3152" y="4389120"/>
            <a:ext cx="8915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137160" y="4434840"/>
            <a:ext cx="854964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92608" y="4553712"/>
            <a:ext cx="274320" cy="274320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1" name="Picture 38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" y="4613148"/>
            <a:ext cx="155448" cy="155448"/>
          </a:xfrm>
          <a:prstGeom prst="rect">
            <a:avLst/>
          </a:prstGeom>
        </p:spPr>
      </p:pic>
      <p:sp>
        <p:nvSpPr>
          <p:cNvPr id="382" name="TextBox 381"/>
          <p:cNvSpPr txBox="1"/>
          <p:nvPr/>
        </p:nvSpPr>
        <p:spPr>
          <a:xfrm>
            <a:off x="603504" y="4553712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0C2560"/>
                </a:solidFill>
                <a:latin typeface="Arial"/>
              </a:rPr>
              <a:t>STRATEGIC
ROADMAP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572768" y="4553712"/>
            <a:ext cx="2743" cy="310896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874519" y="4562856"/>
            <a:ext cx="329184" cy="329184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947672" y="4658868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2249424" y="4613148"/>
            <a:ext cx="1600200" cy="219456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7" name="Picture 38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1720" y="4668012"/>
            <a:ext cx="73152" cy="73152"/>
          </a:xfrm>
          <a:prstGeom prst="rect">
            <a:avLst/>
          </a:prstGeom>
        </p:spPr>
      </p:pic>
      <p:sp>
        <p:nvSpPr>
          <p:cNvPr id="388" name="TextBox 387"/>
          <p:cNvSpPr txBox="1"/>
          <p:nvPr/>
        </p:nvSpPr>
        <p:spPr>
          <a:xfrm>
            <a:off x="2468880" y="4649724"/>
            <a:ext cx="1325880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0" i="0">
                <a:solidFill>
                  <a:srgbClr val="2A3D64"/>
                </a:solidFill>
                <a:latin typeface="Arial"/>
              </a:rPr>
              <a:t>Integrated Asset Location Tracking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3822191" y="4718304"/>
            <a:ext cx="274320" cy="9144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4087368" y="4710988"/>
            <a:ext cx="18288" cy="1828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4224528" y="4562856"/>
            <a:ext cx="329184" cy="329184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4297680" y="4658868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4599432" y="4613148"/>
            <a:ext cx="1755648" cy="219456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4" name="Picture 39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1728" y="4668012"/>
            <a:ext cx="73152" cy="73152"/>
          </a:xfrm>
          <a:prstGeom prst="rect">
            <a:avLst/>
          </a:prstGeom>
        </p:spPr>
      </p:pic>
      <p:sp>
        <p:nvSpPr>
          <p:cNvPr id="395" name="TextBox 394"/>
          <p:cNvSpPr txBox="1"/>
          <p:nvPr/>
        </p:nvSpPr>
        <p:spPr>
          <a:xfrm>
            <a:off x="4818888" y="4649724"/>
            <a:ext cx="148132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0" i="0">
                <a:solidFill>
                  <a:srgbClr val="2A3D64"/>
                </a:solidFill>
                <a:latin typeface="Arial"/>
              </a:rPr>
              <a:t>Automated Import TV Set Workflows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400800" y="4718304"/>
            <a:ext cx="274320" cy="9144"/>
          </a:xfrm>
          <a:prstGeom prst="rect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6665976" y="4710988"/>
            <a:ext cx="18288" cy="18288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6830568" y="4562856"/>
            <a:ext cx="329184" cy="329184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6903720" y="4658868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7205472" y="4613148"/>
            <a:ext cx="1417320" cy="219456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1" name="Picture 40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7768" y="4668012"/>
            <a:ext cx="73152" cy="73152"/>
          </a:xfrm>
          <a:prstGeom prst="rect">
            <a:avLst/>
          </a:prstGeom>
        </p:spPr>
      </p:pic>
      <p:sp>
        <p:nvSpPr>
          <p:cNvPr id="402" name="TextBox 401"/>
          <p:cNvSpPr txBox="1"/>
          <p:nvPr/>
        </p:nvSpPr>
        <p:spPr>
          <a:xfrm>
            <a:off x="7424927" y="4649724"/>
            <a:ext cx="1143000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2A3D64"/>
                </a:solidFill>
                <a:latin typeface="Arial"/>
              </a:rPr>
              <a:t>UI &amp; Workflow Automation Enhancement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256032" y="4965192"/>
            <a:ext cx="114300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 i="0">
                <a:solidFill>
                  <a:srgbClr val="A5B6CF"/>
                </a:solidFill>
                <a:latin typeface="Arial"/>
              </a:rPr>
              <a:t>Presenter: Nguyen Van Diem</a:t>
            </a:r>
          </a:p>
        </p:txBody>
      </p:sp>
      <p:sp>
        <p:nvSpPr>
          <p:cNvPr id="404" name="Rectangle 403"/>
          <p:cNvSpPr/>
          <p:nvPr/>
        </p:nvSpPr>
        <p:spPr>
          <a:xfrm rot="2700000">
            <a:off x="8577072" y="4800600"/>
            <a:ext cx="146304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 rot="2700000">
            <a:off x="8597188" y="4800600"/>
            <a:ext cx="146304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 rot="2700000">
            <a:off x="8617305" y="4800600"/>
            <a:ext cx="146304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 rot="2700000">
            <a:off x="8637422" y="4800600"/>
            <a:ext cx="146304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 rot="2700000">
            <a:off x="8657539" y="4800600"/>
            <a:ext cx="146304" cy="457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5193792" y="2743200"/>
            <a:ext cx="3310128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ounded Rectangle 409"/>
          <p:cNvSpPr/>
          <p:nvPr/>
        </p:nvSpPr>
        <p:spPr>
          <a:xfrm>
            <a:off x="5266944" y="2816352"/>
            <a:ext cx="3090672" cy="1280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5394960" y="2889504"/>
            <a:ext cx="237744" cy="237744"/>
          </a:xfrm>
          <a:prstGeom prst="ellipse">
            <a:avLst/>
          </a:prstGeom>
          <a:solidFill>
            <a:srgbClr val="12A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5472684" y="2967228"/>
            <a:ext cx="73152" cy="54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5687568" y="2916936"/>
            <a:ext cx="146304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66AFF"/>
                </a:solidFill>
                <a:latin typeface="Arial"/>
              </a:rPr>
              <a:t>MANAGEMENT FOCUS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5468112" y="3154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2A3D64"/>
                </a:solidFill>
                <a:latin typeface="Arial"/>
              </a:rPr>
              <a:t>Real-time dashboards help leaders monitor spending trends,
department usage, asset allocation, and overall resource
visibility across the organization.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5486400" y="3685032"/>
            <a:ext cx="2688336" cy="329184"/>
          </a:xfrm>
          <a:prstGeom prst="roundRect">
            <a:avLst>
              <a:gd name="adj" fmla="val 2500"/>
            </a:avLst>
          </a:prstGeom>
          <a:solidFill>
            <a:srgbClr val="FAFCFF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6382512" y="3730752"/>
            <a:ext cx="2286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269480" y="3730752"/>
            <a:ext cx="2286" cy="219456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8" name="Picture 4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6984" y="3767328"/>
            <a:ext cx="73152" cy="73152"/>
          </a:xfrm>
          <a:prstGeom prst="rect">
            <a:avLst/>
          </a:prstGeom>
        </p:spPr>
      </p:pic>
      <p:sp>
        <p:nvSpPr>
          <p:cNvPr id="419" name="TextBox 418"/>
          <p:cNvSpPr txBox="1"/>
          <p:nvPr/>
        </p:nvSpPr>
        <p:spPr>
          <a:xfrm>
            <a:off x="5733288" y="3749039"/>
            <a:ext cx="1828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AFC1"/>
                </a:solidFill>
                <a:latin typeface="Arial"/>
              </a:rPr>
              <a:t>0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605272" y="3858768"/>
            <a:ext cx="50292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266AFF"/>
                </a:solidFill>
                <a:latin typeface="Arial"/>
              </a:rPr>
              <a:t>Manual Entry</a:t>
            </a:r>
          </a:p>
        </p:txBody>
      </p:sp>
      <p:pic>
        <p:nvPicPr>
          <p:cNvPr id="421" name="Picture 4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3096" y="3767328"/>
            <a:ext cx="73152" cy="73152"/>
          </a:xfrm>
          <a:prstGeom prst="rect">
            <a:avLst/>
          </a:prstGeom>
        </p:spPr>
      </p:pic>
      <p:sp>
        <p:nvSpPr>
          <p:cNvPr id="422" name="TextBox 421"/>
          <p:cNvSpPr txBox="1"/>
          <p:nvPr/>
        </p:nvSpPr>
        <p:spPr>
          <a:xfrm>
            <a:off x="6638544" y="3749039"/>
            <a:ext cx="41148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AFC1"/>
                </a:solidFill>
                <a:latin typeface="Arial"/>
              </a:rPr>
              <a:t>100%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510528" y="3858768"/>
            <a:ext cx="53035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266AFF"/>
                </a:solidFill>
                <a:latin typeface="Arial"/>
              </a:rPr>
              <a:t>Visibility</a:t>
            </a:r>
          </a:p>
        </p:txBody>
      </p:sp>
      <p:pic>
        <p:nvPicPr>
          <p:cNvPr id="424" name="Picture 4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0064" y="3767328"/>
            <a:ext cx="73152" cy="73152"/>
          </a:xfrm>
          <a:prstGeom prst="rect">
            <a:avLst/>
          </a:prstGeom>
        </p:spPr>
      </p:pic>
      <p:sp>
        <p:nvSpPr>
          <p:cNvPr id="425" name="TextBox 424"/>
          <p:cNvSpPr txBox="1"/>
          <p:nvPr/>
        </p:nvSpPr>
        <p:spPr>
          <a:xfrm>
            <a:off x="7479792" y="3749039"/>
            <a:ext cx="512064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C2560"/>
                </a:solidFill>
                <a:latin typeface="Arial"/>
              </a:rPr>
              <a:t>Faster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424927" y="3858768"/>
            <a:ext cx="54864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266AFF"/>
                </a:solidFill>
                <a:latin typeface="Arial"/>
              </a:rPr>
              <a:t>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Management Platform</dc:title>
  <dc:subject>PptxGenJS Presentation</dc:subject>
  <dc:creator>Nguyen Van Diem</dc:creator>
  <cp:lastModifiedBy>Nguyen Van Diem</cp:lastModifiedBy>
  <cp:revision>1</cp:revision>
  <dcterms:created xsi:type="dcterms:W3CDTF">2026-05-07T15:07:41Z</dcterms:created>
  <dcterms:modified xsi:type="dcterms:W3CDTF">2026-05-07T15:07:41Z</dcterms:modified>
</cp:coreProperties>
</file>